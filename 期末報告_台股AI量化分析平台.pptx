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1E2761"/>
                </a:solidFill>
                <a:latin typeface="Calibri"/>
              </a:rPr>
              <a:t>兩模型 RMSE 比較 (元)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RMSE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6167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LSTM</c:v>
                  </c:pt>
                  <c:pt idx="1">
                    <c:v>Transformer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97.41</c:v>
                </c:pt>
                <c:pt idx="1">
                  <c:v>112.68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A1A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C729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C729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1E2761"/>
                </a:solidFill>
                <a:latin typeface="Calibri"/>
              </a:rPr>
              <a:t>資金曲線 (策略 vs 買進持有)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 策略</c:v>
                </c:pt>
              </c:strCache>
            </c:strRef>
          </c:tx>
          <c:spPr>
            <a:solidFill>
              <a:srgbClr val="F96167"/>
            </a:solidFill>
            <a:ln w="38100" cap="flat">
              <a:solidFill>
                <a:srgbClr val="F9616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96167"/>
              </a:solidFill>
              <a:ln w="9525" cap="flat">
                <a:solidFill>
                  <a:srgbClr val="F9616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1月</c:v>
                  </c:pt>
                  <c:pt idx="1">
                    <c:v>3月</c:v>
                  </c:pt>
                  <c:pt idx="2">
                    <c:v>5月</c:v>
                  </c:pt>
                  <c:pt idx="3">
                    <c:v>7月</c:v>
                  </c:pt>
                  <c:pt idx="4">
                    <c:v>9月</c:v>
                  </c:pt>
                  <c:pt idx="5">
                    <c:v>11月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108</c:v>
                </c:pt>
                <c:pt idx="2">
                  <c:v>115</c:v>
                </c:pt>
                <c:pt idx="3">
                  <c:v>122</c:v>
                </c:pt>
                <c:pt idx="4">
                  <c:v>128</c:v>
                </c:pt>
                <c:pt idx="5">
                  <c:v>138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買進持有</c:v>
                </c:pt>
              </c:strCache>
            </c:strRef>
          </c:tx>
          <c:spPr>
            <a:solidFill>
              <a:srgbClr val="6C7293"/>
            </a:solidFill>
            <a:ln w="38100" cap="flat">
              <a:solidFill>
                <a:srgbClr val="6C729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C7293"/>
              </a:solidFill>
              <a:ln w="9525" cap="flat">
                <a:solidFill>
                  <a:srgbClr val="6C729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1月</c:v>
                  </c:pt>
                  <c:pt idx="1">
                    <c:v>3月</c:v>
                  </c:pt>
                  <c:pt idx="2">
                    <c:v>5月</c:v>
                  </c:pt>
                  <c:pt idx="3">
                    <c:v>7月</c:v>
                  </c:pt>
                  <c:pt idx="4">
                    <c:v>9月</c:v>
                  </c:pt>
                  <c:pt idx="5">
                    <c:v>11月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</c:v>
                </c:pt>
                <c:pt idx="1">
                  <c:v>105</c:v>
                </c:pt>
                <c:pt idx="2">
                  <c:v>102</c:v>
                </c:pt>
                <c:pt idx="3">
                  <c:v>110</c:v>
                </c:pt>
                <c:pt idx="4">
                  <c:v>113</c:v>
                </c:pt>
                <c:pt idx="5">
                  <c:v>121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C729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C729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8016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台股 AI 量化分析平台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548640" y="22860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Taiwan Stock AI Quantitative Analysis Platform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2926080"/>
            <a:ext cx="1097280" cy="45720"/>
          </a:xfrm>
          <a:prstGeom prst="rect">
            <a:avLst/>
          </a:prstGeom>
          <a:solidFill>
            <a:srgbClr val="F9E795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3200400"/>
            <a:ext cx="5486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課程: 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人工智慧 (碩一下)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主題: 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量化金融分析應用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報告者: 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陳彥璋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0" y="46634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2026.06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專案動機 &amp; 目標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&amp; What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73152" cy="34747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280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研究動機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85800" y="1783080"/>
            <a:ext cx="38404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台股投資人多達 1,200 萬，但散戶平均報酬遠落後大盤。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傳統技術分析依賴人工判讀，難以掌握複雜的非線性訊號。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深度學習在序列資料上展現強大能力，但散戶不易使用。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846320" y="1280160"/>
            <a:ext cx="73152" cy="34747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5074920" y="1280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專案目標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74920" y="1783080"/>
            <a:ext cx="38404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打造一個讓非工程背景使用者也能用的 AI 量化分析網頁。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深度學習 LSTM 與 Transformer 兩大主流時序模型對比。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提供多種交易策略回測，含台股實際手續費與證交稅。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支援虛擬下單，安全體驗完整量化交易流程。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系統架構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七層架構,從資料到使用者介面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14400" y="1280160"/>
            <a:ext cx="7315200" cy="5029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132588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應用層 — Streamlit Web UI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120640" y="1325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互動式網頁,4 個分頁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14400" y="1828800"/>
            <a:ext cx="7315200" cy="502920"/>
          </a:xfrm>
          <a:prstGeom prst="rect">
            <a:avLst/>
          </a:prstGeom>
          <a:solidFill>
            <a:srgbClr val="2A3F73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187452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持久層 — SQLite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120640" y="18745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虛擬交易帳戶與歷史紀錄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14400" y="2377440"/>
            <a:ext cx="7315200" cy="502920"/>
          </a:xfrm>
          <a:prstGeom prst="rect">
            <a:avLst/>
          </a:prstGeom>
          <a:solidFill>
            <a:srgbClr val="3A5499"/>
          </a:solidFill>
          <a:ln/>
        </p:spPr>
      </p:sp>
      <p:sp>
        <p:nvSpPr>
          <p:cNvPr id="11" name="Text 9"/>
          <p:cNvSpPr/>
          <p:nvPr/>
        </p:nvSpPr>
        <p:spPr>
          <a:xfrm>
            <a:off x="1097280" y="24231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回測層 — 向量化回測引擎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120640" y="24231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含手續費 / 證交稅 / 滑價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14400" y="2926080"/>
            <a:ext cx="7315200" cy="502920"/>
          </a:xfrm>
          <a:prstGeom prst="rect">
            <a:avLst/>
          </a:prstGeom>
          <a:solidFill>
            <a:srgbClr val="4A6BB8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29718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策略層 — 5 種策略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120640" y="29718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 / RSI / MACD / BB / AI 信號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14400" y="3474720"/>
            <a:ext cx="7315200" cy="502920"/>
          </a:xfrm>
          <a:prstGeom prst="rect">
            <a:avLst/>
          </a:prstGeom>
          <a:solidFill>
            <a:srgbClr val="6E8AC6"/>
          </a:solidFill>
          <a:ln/>
        </p:spPr>
      </p:sp>
      <p:sp>
        <p:nvSpPr>
          <p:cNvPr id="17" name="Text 15"/>
          <p:cNvSpPr/>
          <p:nvPr/>
        </p:nvSpPr>
        <p:spPr>
          <a:xfrm>
            <a:off x="1097280" y="352044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模型層 — AI 預測模型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20640" y="35204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· Transformer (PyTorch)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14400" y="4023360"/>
            <a:ext cx="7315200" cy="502920"/>
          </a:xfrm>
          <a:prstGeom prst="rect">
            <a:avLst/>
          </a:prstGeom>
          <a:solidFill>
            <a:srgbClr val="9DB1D8"/>
          </a:solidFill>
          <a:ln/>
        </p:spPr>
      </p:sp>
      <p:sp>
        <p:nvSpPr>
          <p:cNvPr id="20" name="Text 18"/>
          <p:cNvSpPr/>
          <p:nvPr/>
        </p:nvSpPr>
        <p:spPr>
          <a:xfrm>
            <a:off x="1097280" y="406908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特徵層 — 技術指標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120640" y="40690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 · EMA · RSI · MACD · KD · BB · ATR · OBV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14400" y="4572000"/>
            <a:ext cx="7315200" cy="50292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23" name="Text 21"/>
          <p:cNvSpPr/>
          <p:nvPr/>
        </p:nvSpPr>
        <p:spPr>
          <a:xfrm>
            <a:off x="1097280" y="461772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資料層 — yfinance + parquet 快取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120640" y="46177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台股 OHLCV 歷史資料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特徵工程: 技術指標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 OHLCV 萃取出 ~15 個量化指標,作為 AI 模型輸入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1645920"/>
          </a:xfrm>
          <a:prstGeom prst="rect">
            <a:avLst/>
          </a:prstGeom>
          <a:solidFill>
            <a:srgbClr val="F8F9FC"/>
          </a:solidFill>
          <a:ln w="6350">
            <a:solidFill>
              <a:srgbClr val="1E276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71600"/>
            <a:ext cx="109728" cy="16459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5087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趨勢類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0116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SMA(5/20/60)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EMA(12/26)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371600"/>
            <a:ext cx="4023360" cy="1645920"/>
          </a:xfrm>
          <a:prstGeom prst="rect">
            <a:avLst/>
          </a:prstGeom>
          <a:solidFill>
            <a:srgbClr val="F8F9FC"/>
          </a:solidFill>
          <a:ln w="6350">
            <a:solidFill>
              <a:srgbClr val="F9616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1371600"/>
            <a:ext cx="109728" cy="1645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0" name="Text 8"/>
          <p:cNvSpPr/>
          <p:nvPr/>
        </p:nvSpPr>
        <p:spPr>
          <a:xfrm>
            <a:off x="4937760" y="15087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動能類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937760" y="20116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RSI(14)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KD Stochastic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200400"/>
            <a:ext cx="4023360" cy="1645920"/>
          </a:xfrm>
          <a:prstGeom prst="rect">
            <a:avLst/>
          </a:prstGeom>
          <a:solidFill>
            <a:srgbClr val="F8F9FC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3200400"/>
            <a:ext cx="109728" cy="16459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3375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波動率類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31520" y="38404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Bollinger Bands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ATR(14)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663440" y="3200400"/>
            <a:ext cx="4023360" cy="1645920"/>
          </a:xfrm>
          <a:prstGeom prst="rect">
            <a:avLst/>
          </a:prstGeom>
          <a:solidFill>
            <a:srgbClr val="F8F9FC"/>
          </a:solidFill>
          <a:ln w="6350">
            <a:solidFill>
              <a:srgbClr val="F59E0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3440" y="3200400"/>
            <a:ext cx="109728" cy="16459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8" name="Text 16"/>
          <p:cNvSpPr/>
          <p:nvPr/>
        </p:nvSpPr>
        <p:spPr>
          <a:xfrm>
            <a:off x="4937760" y="33375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量能類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937760" y="38404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OBV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日報酬率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日報酬率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模型: 雙雄對決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(經典 RNN) vs. Transformer (現代 Self-Attention) — 兩大主流時序模型對決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280160"/>
            <a:ext cx="3794760" cy="3657600"/>
          </a:xfrm>
          <a:prstGeom prst="rect">
            <a:avLst/>
          </a:prstGeom>
          <a:solidFill>
            <a:srgbClr val="F8F9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280160"/>
            <a:ext cx="3794760" cy="7315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3258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22960" y="175564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Short-Term Memory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219456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2468880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雙層 LSTM(64) + Dropout(0.2)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Fully Connected 輸出層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Lookback = 30 天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361188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優勢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3886200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經典時序模型，訓練穩定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小資料情境表現出色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趨勢捕捉能力強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09160" y="1280160"/>
            <a:ext cx="3794760" cy="3657600"/>
          </a:xfrm>
          <a:prstGeom prst="rect">
            <a:avLst/>
          </a:prstGeom>
          <a:solidFill>
            <a:srgbClr val="F8F9FC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09160" y="1280160"/>
            <a:ext cx="3794760" cy="7315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4" name="Text 12"/>
          <p:cNvSpPr/>
          <p:nvPr/>
        </p:nvSpPr>
        <p:spPr>
          <a:xfrm>
            <a:off x="4892040" y="13258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892040" y="175564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Self-Attention Encoder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2040" y="219456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架構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92040" y="2468880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層 Encoder Block + 4 個 head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Sinusoidal Positional Encoding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AdamW + Cosine LR Schedule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892040" y="361188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優勢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92040" y="3886200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平行計算速度快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長期依賴關係處理強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業界主流現代架構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評估指標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怎麼判斷模型好不好? 怎麼判斷策略賺不賺?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模型預測指標</a:t>
            </a:r>
            <a:endParaRPr lang="en-US" sz="1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8229600" cy="1280160"/>
        </p:xfrm>
        <a:graphic>
          <a:graphicData uri="http://schemas.openxmlformats.org/drawingml/2006/table">
            <a:tbl>
              <a:tblPr/>
              <a:tblGrid>
                <a:gridCol w="1371600"/>
                <a:gridCol w="3017520"/>
                <a:gridCol w="384048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指標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公式 / 定義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意義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√(Σ(y - ŷ)² / 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預測誤差平均大小,越小越好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Σ|y - ŷ| / 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對極端值不敏感的誤差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方向準確率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預測漲跌方向 = 真實 比例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對「能不能賺錢」最關鍵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108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交易策略指標</a:t>
            </a:r>
            <a:endParaRPr lang="en-US" sz="16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74720"/>
          <a:ext cx="8229600" cy="1463040"/>
        </p:xfrm>
        <a:graphic>
          <a:graphicData uri="http://schemas.openxmlformats.org/drawingml/2006/table">
            <a:tbl>
              <a:tblPr/>
              <a:tblGrid>
                <a:gridCol w="1371600"/>
                <a:gridCol w="3017520"/>
                <a:gridCol w="38404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指標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公式 / 定義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意義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年化報酬率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 + 總報酬)^(365 / 天數) - 1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把績效換成「每年」的等效報酬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最大回撤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min((Equity - cummax) / cummax)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曾經跌得最慘的幅度,風險指標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Sharpe Ratio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(平均日報酬 - rf) / σ × √252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&gt;1 算好,&gt;2 很好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勝率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獲利筆數 / 總交易筆數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策略成功率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結果預覽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 2330 台積電 1 年資料為例 (示意)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280160"/>
          <a:ext cx="42062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4754880" y="1280160"/>
          <a:ext cx="42062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實測結果:  </a:t>
            </a:r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方向準確率 60.71%  ·  MA 策略年化報酬 +39.6%  ·  最大回撤 -17.7%  ·  Sharpe 1.55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部署與展示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從本機開發到雲端 demo 的完整流程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822960" cy="8229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71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463040" y="1417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本機開發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6304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3.10+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run app.py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個分頁完整測試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1783080"/>
            <a:ext cx="45720" cy="0"/>
          </a:xfrm>
          <a:prstGeom prst="line">
            <a:avLst/>
          </a:prstGeom>
          <a:noFill/>
          <a:ln w="38100">
            <a:solidFill>
              <a:srgbClr val="CADC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29000" y="1371600"/>
            <a:ext cx="822960" cy="8229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3429000" y="1371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4343400" y="1417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推上 GitHub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34340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init / add / commit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 origin main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專案公開 (附 README)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1783080"/>
            <a:ext cx="45720" cy="0"/>
          </a:xfrm>
          <a:prstGeom prst="line">
            <a:avLst/>
          </a:prstGeom>
          <a:noFill/>
          <a:ln w="38100">
            <a:solidFill>
              <a:srgbClr val="CADC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1371600"/>
            <a:ext cx="822960" cy="8229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309360" y="1371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7223760" y="1417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Cloud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722376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免費部署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全球可訪問 URL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程式更新自動同步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017520"/>
            <a:ext cx="8229600" cy="1737360"/>
          </a:xfrm>
          <a:prstGeom prst="rect">
            <a:avLst/>
          </a:prstGeom>
          <a:solidFill>
            <a:srgbClr val="F8F9FC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3108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技術棧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0080" y="3456432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前後端: 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+ Plotly (互動式圖表)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深度學習: 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(LSTM, Transformer)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資料前處理: 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 (MinMax 正規化、時序切分)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資料來源: 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yfinance (台股 .TW), parquet 快取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持久化: 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(虛擬交易帳戶)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結論 &amp; 未來方向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914400" cy="36576"/>
          </a:xfrm>
          <a:prstGeom prst="rect">
            <a:avLst/>
          </a:prstGeom>
          <a:solidFill>
            <a:srgbClr val="F9E795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已完成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3931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完整的台股 AI 量化分析網頁應用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三大 AI 模型同台比較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種交易策略 + 完整回測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虛擬交易帳戶 (SQLite 持久化)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免費部署到 Streamlit Cloud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754880" y="13716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未來方向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754880" y="1783080"/>
            <a:ext cx="3931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整合新聞情感分析 (BERT) 作為額外特徵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強化學習 (DQN/PPO) 直接學習交易策略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多股票投資組合最佳化 (Markowitz)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串接券商 API 做實盤交易 (需證照)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加入即時警報 (LINE Notify)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45720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感謝聆聽 · Q &amp; A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台股 AI 量化分析平台</dc:title>
  <dc:subject>PptxGenJS Presentation</dc:subject>
  <dc:creator>陳彥璋</dc:creator>
  <cp:lastModifiedBy>陳彥璋</cp:lastModifiedBy>
  <cp:revision>1</cp:revision>
  <dcterms:created xsi:type="dcterms:W3CDTF">2026-04-25T11:13:37Z</dcterms:created>
  <dcterms:modified xsi:type="dcterms:W3CDTF">2026-04-25T11:13:37Z</dcterms:modified>
</cp:coreProperties>
</file>