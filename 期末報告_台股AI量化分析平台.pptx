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三模型 RMSE 比較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LSTM</c:v>
                  </c:pt>
                  <c:pt idx="1">
                    <c:v>Transformer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12.34</c:v>
                </c:pt>
                <c:pt idx="1">
                  <c:v>10.87</c:v>
                </c:pt>
                <c:pt idx="2">
                  <c:v>14.52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2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2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資金曲線 (策略 vs 買進持有)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策略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3月</c:v>
                  </c:pt>
                  <c:pt idx="2">
                    <c:v>5月</c:v>
                  </c:pt>
                  <c:pt idx="3">
                    <c:v>7月</c:v>
                  </c:pt>
                  <c:pt idx="4">
                    <c:v>9月</c:v>
                  </c:pt>
                  <c:pt idx="5">
                    <c:v>11月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108</c:v>
                </c:pt>
                <c:pt idx="2">
                  <c:v>115</c:v>
                </c:pt>
                <c:pt idx="3">
                  <c:v>122</c:v>
                </c:pt>
                <c:pt idx="4">
                  <c:v>128</c:v>
                </c:pt>
                <c:pt idx="5">
                  <c:v>138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買進持有</c:v>
                </c:pt>
              </c:strCache>
            </c:strRef>
          </c:tx>
          <c:spPr>
            <a:solidFill>
              <a:srgbClr val="6C7293"/>
            </a:solidFill>
            <a:ln w="38100" cap="flat">
              <a:solidFill>
                <a:srgbClr val="6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C7293"/>
              </a:solidFill>
              <a:ln w="9525" cap="flat">
                <a:solidFill>
                  <a:srgbClr val="6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3月</c:v>
                  </c:pt>
                  <c:pt idx="2">
                    <c:v>5月</c:v>
                  </c:pt>
                  <c:pt idx="3">
                    <c:v>7月</c:v>
                  </c:pt>
                  <c:pt idx="4">
                    <c:v>9月</c:v>
                  </c:pt>
                  <c:pt idx="5">
                    <c:v>11月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105</c:v>
                </c:pt>
                <c:pt idx="2">
                  <c:v>102</c:v>
                </c:pt>
                <c:pt idx="3">
                  <c:v>110</c:v>
                </c:pt>
                <c:pt idx="4">
                  <c:v>113</c:v>
                </c:pt>
                <c:pt idx="5">
                  <c:v>121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2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2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台股 AI 量化分析平台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Stock AI Quantitative Analysis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97280" cy="45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人工智慧 (碩一下)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量化金融分析應用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報告者: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陳彥璋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專案動機 &amp; 目標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What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3152" cy="3474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研究動機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台股投資人多達 1,200 萬，但散戶平均報酬遠落後大盤。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傳統技術分析依賴人工判讀，難以掌握複雜的非線性訊號。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深度學習在序列資料上展現強大能力，但散戶不易使用。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73152" cy="3474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專案目標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17830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打造一個讓非工程背景使用者也能用的 AI 量化分析網頁。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LSTM / Transformer / XGBoost 三模型同台比較。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提供多種交易策略回測，含台股實際手續費與證交稅。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支援虛擬下單，安全體驗完整量化交易流程。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七層架構,從資料到使用者介面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25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應用層 — Streamlit Web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互動式網頁,4 個分頁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7315200" cy="502920"/>
          </a:xfrm>
          <a:prstGeom prst="rect">
            <a:avLst/>
          </a:prstGeom>
          <a:solidFill>
            <a:srgbClr val="2A3F7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持久層 — SQLite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虛擬交易帳戶與歷史紀錄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7315200" cy="502920"/>
          </a:xfrm>
          <a:prstGeom prst="rect">
            <a:avLst/>
          </a:prstGeom>
          <a:solidFill>
            <a:srgbClr val="3A549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回測層 — 向量化回測引擎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含手續費 / 證交稅 / 滑價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solidFill>
            <a:srgbClr val="4A6BB8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策略層 — 5 種策略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/ RSI / MACD / BB / AI 信號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solidFill>
            <a:srgbClr val="6E8AC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520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模型層 — AI 預測模型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Transformer · XGBoost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7315200" cy="502920"/>
          </a:xfrm>
          <a:prstGeom prst="rect">
            <a:avLst/>
          </a:prstGeom>
          <a:solidFill>
            <a:srgbClr val="9DB1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特徵層 — 技術指標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· EMA · RSI · MACD · KD · BB · ATR · OBV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73152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 — yfinance + parquet 快取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台股 OHLCV 歷史資料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特徵工程: 技術指標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OHLCV 萃取出 ~15 個量化指標,作為 AI 模型輸入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45920"/>
          </a:xfrm>
          <a:prstGeom prst="rect">
            <a:avLst/>
          </a:prstGeom>
          <a:solidFill>
            <a:srgbClr val="F8F9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09728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SMA(5/20/60)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EMA(12/26)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45920"/>
          </a:xfrm>
          <a:prstGeom prst="rect">
            <a:avLst/>
          </a:prstGeom>
          <a:solidFill>
            <a:srgbClr val="F8F9FC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371600"/>
            <a:ext cx="109728" cy="1645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動能類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RSI(14)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Stochastic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1645920"/>
          </a:xfrm>
          <a:prstGeom prst="rect">
            <a:avLst/>
          </a:prstGeom>
          <a:solidFill>
            <a:srgbClr val="F8F9FC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109728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波動率類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ATR(14)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4023360" cy="1645920"/>
          </a:xfrm>
          <a:prstGeom prst="rect">
            <a:avLst/>
          </a:prstGeom>
          <a:solidFill>
            <a:srgbClr val="F8F9FC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0040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量能類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日報酬率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日報酬率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模型: 三方對戰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深度學習 (LSTM, Transformer) vs. 機器學習基準 (XGBoost)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3657600"/>
          </a:xfrm>
          <a:prstGeom prst="rect">
            <a:avLst/>
          </a:prstGeom>
          <a:solidFill>
            <a:srgbClr val="F8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974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98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雙層 LSTM(64) + Dropout(0.2) + FC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經典時序模型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趨勢捕捉強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訓練穩定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280160"/>
            <a:ext cx="2697480" cy="3657600"/>
          </a:xfrm>
          <a:prstGeom prst="rect">
            <a:avLst/>
          </a:prstGeom>
          <a:solidFill>
            <a:srgbClr val="F8F9F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280160"/>
            <a:ext cx="269748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298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Encoder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層 Encoder + 4 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Positional Encoding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611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平行計算快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長期依賴強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業界主流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280160"/>
            <a:ext cx="2697480" cy="3657600"/>
          </a:xfrm>
          <a:prstGeom prst="rect">
            <a:avLst/>
          </a:prstGeom>
          <a:solidFill>
            <a:srgbClr val="F8F9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280160"/>
            <a:ext cx="269748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298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2084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Tree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棵 boosting tree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early stopping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時間窗展平為 2D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3611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 baseline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評估指標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怎麼判斷模型好不好? 怎麼判斷策略賺不賺?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模型預測指標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公式 / 定義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√(Σ(y - ŷ)² /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預測誤差平均大小,越小越好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Σ|y - ŷ| /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對極端值不敏感的誤差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方向準確率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預測漲跌方向 = 真實 比例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對「能不能賺錢」最關鍵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交易策略指標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840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公式 / 定義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年化報酬率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+ 總報酬)^(365 / 天數) - 1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把績效換成「每年」的等效報酬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最大回撤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min((Equity - cummax) / cummax)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曾經跌得最慘的幅度,風險指標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(平均日報酬 - rf) / σ × √252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 算好,&gt;2 很好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勝率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獲利筆數 / 總交易筆數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策略成功率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結果預覽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2330 台積電 1 年資料為例 (示意)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28016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預期亮點: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RMSE 最低 (10.87)  ·  AI 策略年化報酬 +38%  ·  最大回撤 -12.4%  ·  Sharpe 1.87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部署與展示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從本機開發到雲端 demo 的完整流程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本機開發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個分頁完整測試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4572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371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4340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推上 GitHub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4340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/ add / commit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專案公開 (附 README)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4572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371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22376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2376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免費部署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全球可訪問 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程式更新自動同步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F8F9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456432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 (互動式圖表)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深度學習: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(LSTM, Transformer)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機器學習: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scikit-learn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(台股 .TW), parquet 快取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(虛擬交易帳戶)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 &amp; 未來方向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914400" cy="36576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完整的台股 AI 量化分析網頁應用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 AI 模型同台比較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種交易策略 + 完整回測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虛擬交易帳戶 (SQLite 持久化)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免費部署到 Streamlit Cloud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未來方向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整合新聞情感分析 (BERT) 作為額外特徵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強化學習 (DQN/PPO) 直接學習交易策略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多股票投資組合最佳化 (Markowitz)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串接券商 API 做實盤交易 (需證照)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加入即時警報 (LINE Notify)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 · 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台股 AI 量化分析平台</dc:title>
  <dc:subject>PptxGenJS Presentation</dc:subject>
  <dc:creator>陳彥璋</dc:creator>
  <cp:lastModifiedBy>陳彥璋</cp:lastModifiedBy>
  <cp:revision>1</cp:revision>
  <dcterms:created xsi:type="dcterms:W3CDTF">2026-04-25T04:12:35Z</dcterms:created>
  <dcterms:modified xsi:type="dcterms:W3CDTF">2026-04-25T04:12:35Z</dcterms:modified>
</cp:coreProperties>
</file>